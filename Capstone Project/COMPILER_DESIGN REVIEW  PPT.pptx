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5" r:id="rId1"/>
  </p:sldMasterIdLst>
  <p:notesMasterIdLst>
    <p:notesMasterId r:id="rId25"/>
  </p:notesMasterIdLst>
  <p:sldIdLst>
    <p:sldId id="263" r:id="rId2"/>
    <p:sldId id="317" r:id="rId3"/>
    <p:sldId id="257" r:id="rId4"/>
    <p:sldId id="259" r:id="rId5"/>
    <p:sldId id="296" r:id="rId6"/>
    <p:sldId id="315" r:id="rId7"/>
    <p:sldId id="316" r:id="rId8"/>
    <p:sldId id="318" r:id="rId9"/>
    <p:sldId id="319" r:id="rId10"/>
    <p:sldId id="320" r:id="rId11"/>
    <p:sldId id="321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23" r:id="rId21"/>
    <p:sldId id="311" r:id="rId22"/>
    <p:sldId id="324" r:id="rId23"/>
    <p:sldId id="32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CF6"/>
    <a:srgbClr val="FFF7F6"/>
    <a:srgbClr val="F6F8FF"/>
    <a:srgbClr val="F6F3FC"/>
    <a:srgbClr val="FDC259"/>
    <a:srgbClr val="0F9ED5"/>
    <a:srgbClr val="8AF0FE"/>
    <a:srgbClr val="03D1ED"/>
    <a:srgbClr val="FFFF99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86427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33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69CB7-4499-4D25-B4F0-F03CFFB3B565}" type="datetimeFigureOut">
              <a:rPr lang="en-IN" smtClean="0"/>
              <a:pPr/>
              <a:t>20/08/26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4FD0D-C0EA-4ED3-96B1-9BC6515B0BE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0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7DB8-1AB4-A7AC-16BE-EAD2E7469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3AA321-A839-CED7-305B-630A2860D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7F2A3-C064-BF96-FE16-9A6DEE511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10DD2-3A66-ABC5-632B-331F84609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1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74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79565-3EAA-C5C5-AB0E-2327C36F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B4695-9A5A-7248-9AC6-475B59D79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A1EC0-24DF-0180-26F1-053883F08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CF083-68E5-6BAA-1267-D19FEDD5F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03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5E419-3E6F-0C41-DA63-22A62E1E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7B4A2-32B6-3674-A1B3-A8955BD45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38EE5-0594-8270-D1B0-60FA5E75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8E6F-283A-F5AB-641E-A82D12596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74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FF9C-1A57-04D8-E200-96EA9844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8F43F-E020-315C-9774-5D71F6F4D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38610-AC02-B7DA-3284-281AD479D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8A1C6-CADA-784D-4E02-BC8A8996E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145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B2D4-292C-5794-6918-21594BEC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5916E-6B4E-C86A-B02E-4ADD10062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33116-98A6-8D67-7433-62038EF7E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73298-2520-AD7A-938D-9DEF09335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24FD0D-C0EA-4ED3-96B1-9BC6515B0BE5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178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EC74-8BAD-9DA7-F268-A733F5B4C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FDE9F-70EA-B8C9-7DE3-E02DEAB08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6512-83C6-C2C9-A1CA-559CD447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BF4D3-B771-0204-C404-2CDDC8A62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D852-6B44-3EFF-7D59-64AFA88E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8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B7B0-2D54-DBE2-7137-A5B0B10E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4A013-482D-EB38-9F4B-C53FCE895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5EEA-D853-C56E-8943-37A96B886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EEEA8-DA3A-1327-9789-935BF9B3F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0AE58-DBB7-A412-1579-2B04B3D4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47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1C771-50F8-18E6-88E1-C00CE4D3C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3B94C-2BBC-9F8F-3BC7-B61804443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568E3-22A2-8A00-5BBD-5B2028BC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9E059-7802-F0FF-8E8E-B87DAC03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082AC-2120-9D5A-BFCB-9FE3D7F3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28BB-C82C-E7C1-521E-F8104CBA2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8727-1D2E-C463-EB3B-EC815978A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6A6CD-92A8-552F-ADF4-AA043D827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45480-B618-963D-0798-5AC101EA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49ADD-AE45-54E8-D817-30299200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EDA67-0033-1D25-73C5-8BE4FD72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9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B870E-4619-38B2-8B5F-E7E613CE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CC42D-9A75-E001-6381-3B9552E2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F4F1-7EE2-F720-464C-EF3F57D73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29366D-7462-B8B9-A2E8-FF24089B2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D1FF9A-F0B9-A67C-07D4-E49764DEA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32A2B-48DE-C367-3F64-87337A0B9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10E90-8B0E-F8CA-9305-72B72759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A2188-9E04-C839-B9FA-F53829A7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6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EC2D-C0E0-3B49-656E-B0745DD7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666C74-7BFB-AB40-0AB4-AC57DF8A6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58C7DE-392E-1AB4-8C58-C4AADB45B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CD20B-6A06-1506-2007-B6B02904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5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1B580-46C0-7C03-4BF7-DC7F840F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82E92-AB90-B273-3093-7665F71B9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B16A-4893-65B9-EDBC-D880BA9E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00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C6E9-0408-F76B-3511-4CFBFF0C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96D7-03CA-D2FA-0FCD-2EDAA659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54D39-6993-F0AC-0A41-649CFA461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A8181-E1CE-7757-FA1B-FEFA5ABC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2C91D-236C-F6B9-6A9B-35410430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50155-CD13-5C2E-3C4F-9A99DEA0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5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9790-035A-9F32-E472-F5C25C42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4EDEBF-2576-0618-94B0-3557659F8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074F7-694A-33CF-0064-E99287D8F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38136-537B-D919-05EF-155C7205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0876-196C-DBB5-1F01-FAA6FE5DA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39539-D309-6614-851F-859D411A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2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E28-97ED-0CC6-77CC-9EC6B6C4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2E82-895C-E438-782E-7C3C89433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77E26-1B9F-D74F-F4D9-C4C55D46B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98D11-CF79-6F5A-363F-A3A78F68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7D587-7D9F-6FE6-9A08-AF9482D3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2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1E021-8D94-595D-8FA6-793183489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7A2B5-D7DC-5C28-1BE9-01E78C9D1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E4582-6D7C-298A-CA2F-A440015A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56505-A604-463A-BA4D-94E5C8DDC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2FE3E-568B-2770-13A7-D13C390E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90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05420-0486-8C0F-5149-0AFCE767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496CD-97C5-A815-14BE-E73FDD279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8446B-6950-004F-E1C0-F13A07435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C99D7-DB9E-F842-988B-D964B3014DC6}" type="datetimeFigureOut">
              <a:rPr lang="en-US" smtClean="0"/>
              <a:pPr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3CF79-E020-49BD-7262-19BD22704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B71BB-4CFB-E0DF-5E24-F5911214D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73AC-15BE-4C43-8D0D-B7F1E76241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F9B8B-4E4D-B3BB-A359-8044F326D01F}"/>
              </a:ext>
            </a:extLst>
          </p:cNvPr>
          <p:cNvSpPr txBox="1"/>
          <p:nvPr/>
        </p:nvSpPr>
        <p:spPr>
          <a:xfrm>
            <a:off x="875923" y="4772720"/>
            <a:ext cx="43527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Anitha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09B82-6D9F-A4BD-6C19-6F1D677D86FD}"/>
              </a:ext>
            </a:extLst>
          </p:cNvPr>
          <p:cNvSpPr txBox="1"/>
          <p:nvPr/>
        </p:nvSpPr>
        <p:spPr>
          <a:xfrm>
            <a:off x="6565108" y="4396875"/>
            <a:ext cx="75851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Bhagya Shree S – 192521338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M.Varshini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192421293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T.Vaishnavi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192421370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K.Gayathri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192421319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K.Madhulika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192524190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9" name="Picture 8" descr="SSE-Computer Science and Engineering">
            <a:extLst>
              <a:ext uri="{FF2B5EF4-FFF2-40B4-BE49-F238E27FC236}">
                <a16:creationId xmlns:a16="http://schemas.microsoft.com/office/drawing/2014/main" id="{A5A7D87A-ABAF-BA51-0F30-58B9213D8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61" y="423559"/>
            <a:ext cx="10054935" cy="1110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9DA75-9DAF-9815-EE5E-CE64BF2A88F6}"/>
              </a:ext>
            </a:extLst>
          </p:cNvPr>
          <p:cNvSpPr txBox="1"/>
          <p:nvPr/>
        </p:nvSpPr>
        <p:spPr>
          <a:xfrm>
            <a:off x="3052316" y="2433811"/>
            <a:ext cx="5142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CSA1107- COMPILER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43822-5B43-2B84-982B-F166079D8F5A}"/>
              </a:ext>
            </a:extLst>
          </p:cNvPr>
          <p:cNvSpPr txBox="1"/>
          <p:nvPr/>
        </p:nvSpPr>
        <p:spPr>
          <a:xfrm>
            <a:off x="2702136" y="1956018"/>
            <a:ext cx="604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5D992-5E5F-652F-92E9-ECD02D4E89B2}"/>
              </a:ext>
            </a:extLst>
          </p:cNvPr>
          <p:cNvSpPr txBox="1"/>
          <p:nvPr/>
        </p:nvSpPr>
        <p:spPr>
          <a:xfrm>
            <a:off x="762564" y="3104213"/>
            <a:ext cx="10404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Intelligent Compiler Framework for Automated Error Diagnosis and Context-Aware Validation of Clinical Decision Support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F07F-9E9E-5C90-080F-0C8B9323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0513-26FC-7B92-2BA3-8A237A70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22" y="542580"/>
            <a:ext cx="8596668" cy="64097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529B-7135-28F4-EBEE-D7696A4BA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734" y="1810169"/>
            <a:ext cx="10850531" cy="4856205"/>
          </a:xfrm>
        </p:spPr>
        <p:txBody>
          <a:bodyPr>
            <a:noAutofit/>
          </a:bodyPr>
          <a:lstStyle/>
          <a:p>
            <a:pPr lvl="0" algn="just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organizations use Clinical Decision Support (CDS) rules to assist doctors  in diagnosis and treatment.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 created CDS rules may contain lexical, syntax, semantic, and logical errors.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tools detect technical errors but lack clinical validation and intelligent explanations.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AI-Driven Intelligent Compiler Framework validates CDS rules using compiler techniques and AI before storing them in the database.</a:t>
            </a:r>
          </a:p>
          <a:p>
            <a:pPr lvl="0" algn="just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Validated rules are used to provide doctors with safe recommendations and real-time warnings during patient care.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2FD23-45E7-418B-5EFB-DE12441BC66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550539-5365-07C7-ECB5-CE4B87E6F81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6666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4776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469" y="415934"/>
            <a:ext cx="9699715" cy="1224068"/>
          </a:xfrm>
        </p:spPr>
        <p:txBody>
          <a:bodyPr>
            <a:normAutofit/>
          </a:bodyPr>
          <a:lstStyle/>
          <a:p>
            <a:pPr algn="ctr"/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sz="3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A1AFF6-728E-5398-76AD-B1B083B496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2771" y="3798746"/>
            <a:ext cx="6596174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29711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54D3BC-EE04-0D8E-8600-90CD3CE2391F}"/>
              </a:ext>
            </a:extLst>
          </p:cNvPr>
          <p:cNvSpPr txBox="1"/>
          <p:nvPr/>
        </p:nvSpPr>
        <p:spPr>
          <a:xfrm>
            <a:off x="552771" y="1758818"/>
            <a:ext cx="94615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detect lexical, syntax, semantic, and logical errors in CDS rules.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clinical context and intelligent error explanations.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rule validation is time-consuming and error-prone.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CDS rules may be stored and used in clinical practice.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rules can lead to unsafe recommendations and impact patient care.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ECB9F-4EBF-F1C2-AE00-BBDFDD105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091" y="2600105"/>
            <a:ext cx="2777631" cy="18517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3615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358" y="1534510"/>
            <a:ext cx="8089789" cy="358531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1E88BAC-A8F1-E70E-C2B5-FFF7030E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137D4-2319-7E05-AD11-9C9B617E5505}"/>
              </a:ext>
            </a:extLst>
          </p:cNvPr>
          <p:cNvSpPr txBox="1"/>
          <p:nvPr/>
        </p:nvSpPr>
        <p:spPr>
          <a:xfrm>
            <a:off x="665843" y="1857121"/>
            <a:ext cx="110457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AI-driven compiler framework for Clinical Decision Support (CDS) rules.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lexical, syntax, semantic, and logical errors in CDS rules.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CDS rules using AI-assisted analysis before storing them in the Rule Repository.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intelligent error explanations and correction suggestions.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validated rules to patient data to provide safe recommendations and real-time warnings.</a:t>
            </a:r>
          </a:p>
          <a:p>
            <a:pPr marL="342900" lvl="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dashboard for rule validation and clinical decision support.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E1FA44-57E2-70A5-1A2E-C2B67244553E}"/>
              </a:ext>
            </a:extLst>
          </p:cNvPr>
          <p:cNvSpPr txBox="1"/>
          <p:nvPr/>
        </p:nvSpPr>
        <p:spPr>
          <a:xfrm>
            <a:off x="665843" y="2707428"/>
            <a:ext cx="7416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AF18-D2BF-89DD-4028-455BA85BB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DDCB-D769-482A-9A87-DE50B938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2777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09B4B-AD05-E46B-5EE5-8171236BBFD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3" y="191626"/>
            <a:ext cx="961696" cy="1067331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7F8696-4D7A-2BA0-6ECB-57FA5D34EB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912" y="190194"/>
            <a:ext cx="1108544" cy="13255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FC5A83-9CB8-07CD-0743-FC55DB9B2531}"/>
              </a:ext>
            </a:extLst>
          </p:cNvPr>
          <p:cNvSpPr/>
          <p:nvPr/>
        </p:nvSpPr>
        <p:spPr>
          <a:xfrm>
            <a:off x="218544" y="1595082"/>
            <a:ext cx="5629874" cy="5048586"/>
          </a:xfrm>
          <a:prstGeom prst="roundRect">
            <a:avLst/>
          </a:prstGeom>
          <a:solidFill>
            <a:srgbClr val="FFF7F6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validation of CDS rules only.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technical error messages.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understanding of clinical context.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and correction of rule errors.</a:t>
            </a:r>
            <a:r>
              <a:rPr lang="en-US" sz="2200" dirty="0"/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patient-specific decision support.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23479F-1005-4F7B-CFDB-8F0F0EBF59F6}"/>
              </a:ext>
            </a:extLst>
          </p:cNvPr>
          <p:cNvSpPr/>
          <p:nvPr/>
        </p:nvSpPr>
        <p:spPr>
          <a:xfrm>
            <a:off x="6123176" y="1515757"/>
            <a:ext cx="5589939" cy="5152049"/>
          </a:xfrm>
          <a:prstGeom prst="roundRect">
            <a:avLst/>
          </a:prstGeom>
          <a:solidFill>
            <a:srgbClr val="F7FCF6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lexical, syntax, semantic, logical validation.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Human-readable AI error explanations. 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validation using validated CDS rules</a:t>
            </a:r>
            <a:r>
              <a:rPr lang="en-US" sz="2400" dirty="0"/>
              <a:t>.</a:t>
            </a:r>
          </a:p>
          <a:p>
            <a:pPr marL="342900" lvl="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correction optimization suggestions.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Patient-specific recommendations and alert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21818-5B65-585A-83FC-B2933D3D6E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0" r="3627" b="3907"/>
          <a:stretch>
            <a:fillRect/>
          </a:stretch>
        </p:blipFill>
        <p:spPr>
          <a:xfrm>
            <a:off x="218544" y="1345093"/>
            <a:ext cx="5555023" cy="7004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E557F1-AAD0-6F24-EC8A-AC16F390BB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3" t="9429" r="2154" b="16493"/>
          <a:stretch>
            <a:fillRect/>
          </a:stretch>
        </p:blipFill>
        <p:spPr>
          <a:xfrm>
            <a:off x="6123176" y="1531652"/>
            <a:ext cx="5515088" cy="58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9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B1508-63EF-C88A-DA33-F778B0B05EE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018" y="36636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A2540-B587-BADC-289B-F5351E34AED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3715" y="36636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4516D1-CF0F-B45A-A4D1-975CD85DA65D}"/>
              </a:ext>
            </a:extLst>
          </p:cNvPr>
          <p:cNvSpPr txBox="1"/>
          <p:nvPr/>
        </p:nvSpPr>
        <p:spPr>
          <a:xfrm>
            <a:off x="2557848" y="683865"/>
            <a:ext cx="65796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397E-3906-337D-236F-992CCB504C6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2100A0-1A80-7787-B253-EA5839108187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430BCF-18F3-2629-CB89-D96AC30C9D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36"/>
          <a:stretch>
            <a:fillRect/>
          </a:stretch>
        </p:blipFill>
        <p:spPr>
          <a:xfrm>
            <a:off x="1836244" y="1953491"/>
            <a:ext cx="7772400" cy="472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23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502E-5EA6-3E14-A385-E09C4BE95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999" y="662155"/>
            <a:ext cx="8463528" cy="13428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Clinical Rule Processing Engine</a:t>
            </a:r>
            <a:br>
              <a:rPr lang="en-US" sz="4000" b="1" dirty="0"/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04B997-EF66-DB56-37BA-2B4C0291F1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8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1F6B56-9FAD-859F-2835-7C9719E385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89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255981-CE32-8216-F72C-58F2A8A3851C}"/>
              </a:ext>
            </a:extLst>
          </p:cNvPr>
          <p:cNvSpPr txBox="1"/>
          <p:nvPr/>
        </p:nvSpPr>
        <p:spPr>
          <a:xfrm>
            <a:off x="947211" y="2002957"/>
            <a:ext cx="887128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Clinical Decision Support (CDS) rules and prepare them for intelligent validation through lexical and syntax analysis.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457200" lvl="0" indent="-4572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Clinical Decision Support (CDS) rules as input. </a:t>
            </a:r>
          </a:p>
          <a:p>
            <a:pPr marL="457200" lvl="0" indent="-4572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tokenization of rule elements. </a:t>
            </a:r>
          </a:p>
          <a:p>
            <a:pPr marL="457200" lvl="0" indent="-4572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Conducts lexical analysis to identify valid tokens. </a:t>
            </a:r>
          </a:p>
          <a:p>
            <a:pPr marL="457200" lvl="0" indent="-4572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syntax analysis to verify rule structure. </a:t>
            </a:r>
          </a:p>
          <a:p>
            <a:pPr marL="457200" lvl="0" indent="-4572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parse tree for subsequent validation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8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E96F-4678-2550-E5B4-1DF903DC3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0F0A-E0CF-14AF-865B-0926C392D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402" y="559000"/>
            <a:ext cx="9002104" cy="13428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Intelligent Error Diagnosis Engine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C8C274-C75A-F414-A21C-21D601DAE2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8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F04A1F-1CB3-098C-4B5F-1BC263F706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909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24F5E3-8A54-4113-EA51-48AC99083219}"/>
              </a:ext>
            </a:extLst>
          </p:cNvPr>
          <p:cNvSpPr txBox="1"/>
          <p:nvPr/>
        </p:nvSpPr>
        <p:spPr>
          <a:xfrm>
            <a:off x="1099611" y="2252286"/>
            <a:ext cx="887128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Clinical Decision Support (CDS) rules for semantic and logical errors and provide AI-driven error diagnosis.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semantic analysis of CDS rules.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logical conflicts and inconsistencies.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 or invalid rule conditions.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AI-powered error explanations.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intelligent corrections.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64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5CAF-6F2A-E0DD-37F0-12DFCEA3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7024-3B6B-94BE-E8FA-D234A0554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999" y="543063"/>
            <a:ext cx="8292893" cy="134288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3:Clinical Rule Validation &amp; Repository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DD8B73-8B39-7089-3337-9E48A56B63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8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F3B8E0-7CF6-87E5-6AA5-469C05AB4A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89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2B463B-C196-5CB6-C476-805DFA17B5DA}"/>
              </a:ext>
            </a:extLst>
          </p:cNvPr>
          <p:cNvSpPr txBox="1"/>
          <p:nvPr/>
        </p:nvSpPr>
        <p:spPr>
          <a:xfrm>
            <a:off x="936341" y="2155305"/>
            <a:ext cx="977620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Clinical Decision Support (CDS) rules, approve valid rules, and securely store them in the rule repository for future clinical decision support.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CDS rules after lexical, syntax, semantic, and logical analysis.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rule consistency and completeness.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invalid or conflicting rules.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validated rules in the Rule Repository.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centralized repository of approved CDS rules.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9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7DD4-4209-2F34-9C87-25A68BA6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D8E4-57D3-AE88-C583-3F3218F9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831" y="645627"/>
            <a:ext cx="8593230" cy="1342884"/>
          </a:xfrm>
        </p:spPr>
        <p:txBody>
          <a:bodyPr>
            <a:noAutofit/>
          </a:bodyPr>
          <a:lstStyle/>
          <a:p>
            <a:pPr algn="ctr"/>
            <a:b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4:Patient Rule Matching &amp; Recommendation Engine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AA2B8-281C-C5EF-6386-D2F3212C3CA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88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F2CFA0-0D21-057F-7F1C-2E7C298B123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89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00B042-6DEB-EB7A-7175-043934A3A5DF}"/>
              </a:ext>
            </a:extLst>
          </p:cNvPr>
          <p:cNvSpPr txBox="1"/>
          <p:nvPr/>
        </p:nvSpPr>
        <p:spPr>
          <a:xfrm>
            <a:off x="1110440" y="2027992"/>
            <a:ext cx="8871281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match patient information with validated Clinical Decision Support (CDS) rules and generate appropriate recommendations for clinical decision support.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patient information from the doctor.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validated CDS rules from the Rule Repository.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patient data with stored rules.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patient-specific recommendations.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alerts when matching rules are found.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123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95D9-603A-F4D6-B2F2-0F015F3E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E6BD-89BC-1DF5-AAE0-E04ACF0AD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5:Intelligent Decision Support Dashboard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8035E-B2F9-ECF3-8500-1CFBD2DB8F5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45612A-F322-83BA-ADD0-E7D5C65F3C9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E0CDD8-DE29-4023-1C6B-0943A3AC46BB}"/>
              </a:ext>
            </a:extLst>
          </p:cNvPr>
          <p:cNvSpPr txBox="1"/>
          <p:nvPr/>
        </p:nvSpPr>
        <p:spPr>
          <a:xfrm>
            <a:off x="883030" y="2415919"/>
            <a:ext cx="887128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present validated CDS rules, patient-specific recommendations, AI-generated explanations, and reports through an interactive dashboard.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patient-specific recommendations.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AI-generated explanations for recommendations.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alerts and notifications for critical conditions.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rule validation and recommendation reports. </a:t>
            </a:r>
          </a:p>
          <a:p>
            <a:pPr marL="342900" lvl="0" indent="-342900"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dashboard for administrators and doctors.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36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6AA3-D026-BE4C-5182-66C698D0B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0496E-4FBC-0D98-EB01-6593ABBF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br>
              <a:rPr lang="en-US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0F4E6-3E1A-9127-68F6-057B4E9B1C7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951968-76E6-29EA-6D0D-785F7AF3EDD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ED99F4-D08C-6B60-E1CF-C6FF30111020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DCC2F-E2CA-D74B-B661-82911D45E7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4" t="12033" r="1921" b="18983"/>
          <a:stretch>
            <a:fillRect/>
          </a:stretch>
        </p:blipFill>
        <p:spPr>
          <a:xfrm>
            <a:off x="1100045" y="2010540"/>
            <a:ext cx="9448800" cy="448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49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7D6E-6088-A6E0-E20A-91102743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A5856-3683-7C86-9BDF-418D3A419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36F6A-38B4-E347-737E-27A251C3A4D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D051CD-4597-F860-CCED-3E18DE15AB1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90E449-EFDC-280E-FD7B-D30EC1C85B8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7969B2-AC43-8384-7BFB-EEED2069D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30" y="2186823"/>
            <a:ext cx="10112268" cy="3827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346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BE2F-EBD0-6D34-B9C4-3D15C295B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D8C8-FDA8-7A08-64B7-598288AC1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820431-DEF2-AC72-57F4-3F7B03B9E3B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70D4B5-D855-FAF9-248E-E53E3059D43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5765C-C9C9-B3E5-EDD9-A95340DAB834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5DC5FE-8EBB-645F-AF58-BDEB8D2C7F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514" r="41697"/>
          <a:stretch>
            <a:fillRect/>
          </a:stretch>
        </p:blipFill>
        <p:spPr>
          <a:xfrm>
            <a:off x="603121" y="2186823"/>
            <a:ext cx="5221324" cy="4013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15F5C0-7EBE-9FB4-2524-B449620C6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557" y="1598629"/>
            <a:ext cx="3940225" cy="49014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3872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9B982-793F-E431-DB85-56B44487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1130-CD29-EABD-A90D-71417925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5BD1E-40D1-36A4-22FB-E9B9D619D8E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5C94FF-E8E6-DAC5-18D5-571DDC45B9A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275622-3F66-AAFA-B0F4-46B4EC2C0A2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7C616B-42BF-958E-4575-D7A286AA22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262" r="40546"/>
          <a:stretch>
            <a:fillRect/>
          </a:stretch>
        </p:blipFill>
        <p:spPr>
          <a:xfrm>
            <a:off x="755793" y="2208160"/>
            <a:ext cx="4539732" cy="41117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FA556D-8ABB-824F-4448-B80D6A255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611" y="1880948"/>
            <a:ext cx="4200464" cy="44762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4982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8B814-2C9F-8599-7C93-3DE24222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2493-687A-3C68-E311-C39EDD16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E58E0-9023-56CB-0FE3-FF1F9DBB78F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A1665F-6C4F-6942-3C02-F4CDCA5E63A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B73843-3EFB-17A1-658D-1154069B551E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864F4-C243-C2AE-4C2D-3B1D5F780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870" y="1965448"/>
            <a:ext cx="4995150" cy="4162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9152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FA9D-8F5D-3562-028B-082DD365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F4DE-4F3C-5D4F-C7C5-4C9EF25C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/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2EF3C9-0702-83F3-7F7F-F5D96516A29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75B801-5C79-ACED-180F-FF8056D5F8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C74AB6-3B7F-F3B5-5D32-1AF80243820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933F31-0E19-E7C6-EC60-1DEF71B73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099" y="2432235"/>
            <a:ext cx="9268692" cy="35818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654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7603-40CB-8AB0-D0F3-5428F736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79BB-471E-1EA5-33DA-542CC47F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AF186-98D3-B7E1-67B7-90B160B642C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223944-24BF-F961-24D1-D16F0C89981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59ED32-730F-E9BD-58AD-4545FCDC356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3599C-B318-F405-9CC6-17437F4D8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589" y="1971189"/>
            <a:ext cx="8747713" cy="435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310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C8A19-968F-FB00-31F7-C9C09BFE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6B22-1E3E-9173-DE17-6ECC22B25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672392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B3336-45F8-C444-F3B6-4B7F1C9A09B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A0FB1-39F5-3BFB-7246-64909F09329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60FE7D-20A7-2737-8545-A158CF400FF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6097CA-AC5B-6C78-AB5F-2F39B60CC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698" y="1641309"/>
            <a:ext cx="7772400" cy="47851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1737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F069-4C4C-16CB-82B5-B97CC17E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9A900-8793-C10F-336F-5BF82DB3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589" y="843939"/>
            <a:ext cx="8747713" cy="99979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br>
              <a:rPr lang="en-US" sz="4000" b="1" dirty="0"/>
            </a:b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69ABD-278E-FDBF-9D6F-628F3178274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5472" y="50084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B35106-3B57-DE65-E881-D3F84E9AA8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302" y="50084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20E004-1AA0-A6BC-71BD-19981EC597E5}"/>
              </a:ext>
            </a:extLst>
          </p:cNvPr>
          <p:cNvSpPr txBox="1"/>
          <p:nvPr/>
        </p:nvSpPr>
        <p:spPr>
          <a:xfrm>
            <a:off x="1223179" y="2388210"/>
            <a:ext cx="8871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A90E1-FEB0-F858-93AF-C0386CCA0042}"/>
              </a:ext>
            </a:extLst>
          </p:cNvPr>
          <p:cNvSpPr txBox="1"/>
          <p:nvPr/>
        </p:nvSpPr>
        <p:spPr>
          <a:xfrm>
            <a:off x="1223179" y="2388210"/>
            <a:ext cx="942181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performs Lexical, Syntax, Semantic, and Logical Analysis. 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classifies errors at the appropriate compiler stage. 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Stops subsequent stages when an earlier stage fails. 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error location, explanation, and correction suggestions. 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AI-assisted, context-aware error correction. </a:t>
            </a:r>
          </a:p>
          <a:p>
            <a:pPr marL="285750" lvl="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interactive interface for rule validation and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773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6B3B-3B2B-7B74-EFEA-0E16FA32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8B4CCC-6DE5-C949-392D-7DAB016CC1B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9FD296-5689-3442-9997-4CB2BB71EE8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302002-324E-3B37-6E50-5741737DB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79728" cy="4506469"/>
          </a:xfrm>
        </p:spPr>
        <p:txBody>
          <a:bodyPr>
            <a:normAutofit fontScale="92500" lnSpcReduction="20000"/>
          </a:bodyPr>
          <a:lstStyle/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with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 (EHR)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 for real-time rule   validation. </a:t>
            </a:r>
          </a:p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international clinical standards such as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HL7 FHIR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SNOMED CT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continuously improve rule validation accuracy. </a:t>
            </a:r>
          </a:p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multilingual support for healthcare organizations worldwide. </a:t>
            </a:r>
          </a:p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framework to support multiple Clinical Decision Support rule languages. </a:t>
            </a:r>
          </a:p>
          <a:p>
            <a:pPr lvl="0"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cloud-based deployment for scalable and secure healthcare applications. 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9A8F5-F5E2-A190-2404-AA572E721D7F}"/>
              </a:ext>
            </a:extLst>
          </p:cNvPr>
          <p:cNvSpPr txBox="1"/>
          <p:nvPr/>
        </p:nvSpPr>
        <p:spPr>
          <a:xfrm>
            <a:off x="3832399" y="525906"/>
            <a:ext cx="45272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95404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5A4C-E0B5-3BDD-922A-F5EB01F46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D3B780-8E75-120C-FEF6-465CAB1DBA9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2C5FA3-131C-8E9E-652F-02BBBFDEF71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4978A-A58A-782A-7B73-23CD010A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35146" cy="4840749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an AI-driven intelligent compiler framework for validating Clinical Decision Support (CDS) rules.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traditional compiler analysis with AI-assisted error diagnosis and validation.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rule debugging through intelligent error explanations and correction suggestions.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quality, consistency, and reliability of CDS rules before deployment. 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smarter, faster, and more user-friendly approach for supporting clinical decision-making. 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EEA124-529E-CB08-5F2A-81CB31006351}"/>
              </a:ext>
            </a:extLst>
          </p:cNvPr>
          <p:cNvSpPr txBox="1"/>
          <p:nvPr/>
        </p:nvSpPr>
        <p:spPr>
          <a:xfrm>
            <a:off x="3998634" y="525906"/>
            <a:ext cx="40094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63457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E4080-1CCF-1A2C-BCBE-54F9F954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EB3A87-BB4D-16A0-8545-6319B78053E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345AA6-A91D-C266-7718-BAE284087DB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765221C-201A-4CFF-D2D1-D2417FAD4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462441" y="2473185"/>
            <a:ext cx="11736729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079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13057</TotalTime>
  <Words>966</Words>
  <Application>Microsoft Macintosh PowerPoint</Application>
  <PresentationFormat>Widescreen</PresentationFormat>
  <Paragraphs>140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OBJECTIVE </vt:lpstr>
      <vt:lpstr>   EXISTING VS PROPOSED SYSTEM </vt:lpstr>
      <vt:lpstr>PowerPoint Presentation</vt:lpstr>
      <vt:lpstr>Module 1: Clinical Rule Processing Engine </vt:lpstr>
      <vt:lpstr>Module 2: Intelligent Error Diagnosis Engine </vt:lpstr>
      <vt:lpstr>Module 3:Clinical Rule Validation &amp; Repository </vt:lpstr>
      <vt:lpstr> Module 4:Patient Rule Matching &amp; Recommendation Engine</vt:lpstr>
      <vt:lpstr>     Module 5:Intelligent Decision Support Dashboard</vt:lpstr>
      <vt:lpstr>     WORKFLOW </vt:lpstr>
      <vt:lpstr>    IMPLEMENTATION </vt:lpstr>
      <vt:lpstr>    IMPLEMENTATION </vt:lpstr>
      <vt:lpstr>    IMPLEMENTATION </vt:lpstr>
      <vt:lpstr>    IMPLEMENTATION </vt:lpstr>
      <vt:lpstr>    IMPLEMENTATION </vt:lpstr>
      <vt:lpstr>    IMPLEMENTATION </vt:lpstr>
      <vt:lpstr>    IMPLEMENTATION </vt:lpstr>
      <vt:lpstr>RESULT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DATABASE SYSTEM FOR REAL-TIME FLOODMONITORING AND ALERT MANAGEMENT</dc:title>
  <dc:creator>Bhagya shree S</dc:creator>
  <cp:lastModifiedBy>Bhagya shree S</cp:lastModifiedBy>
  <cp:revision>51</cp:revision>
  <dcterms:created xsi:type="dcterms:W3CDTF">2025-11-04T12:52:50Z</dcterms:created>
  <dcterms:modified xsi:type="dcterms:W3CDTF">2026-08-20T16:24:33Z</dcterms:modified>
</cp:coreProperties>
</file>